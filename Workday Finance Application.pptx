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57" r:id="rId4"/>
    <p:sldId id="259" r:id="rId5"/>
    <p:sldId id="260"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115" autoAdjust="0"/>
  </p:normalViewPr>
  <p:slideViewPr>
    <p:cSldViewPr snapToGrid="0">
      <p:cViewPr varScale="1">
        <p:scale>
          <a:sx n="62" d="100"/>
          <a:sy n="62" d="100"/>
        </p:scale>
        <p:origin x="139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CA268-E80D-2E93-E0D1-8FBDA08E7D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9EFCFB-FC08-823C-E088-2E06BE82BD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50A1C6-0E3D-A313-0C8B-4C637C790800}"/>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5" name="Footer Placeholder 4">
            <a:extLst>
              <a:ext uri="{FF2B5EF4-FFF2-40B4-BE49-F238E27FC236}">
                <a16:creationId xmlns:a16="http://schemas.microsoft.com/office/drawing/2014/main" id="{309D1929-3F1B-AF04-342C-2CCB3493BF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7B392-200B-CB5C-A771-38CED23AFEE6}"/>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1077249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FC280-5A69-3413-E574-0767A3ACF9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D7EBC2-4273-BECE-D9B5-677A4EA2AE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FA1D6B-331F-488E-4145-B45BEDFA2D9E}"/>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5" name="Footer Placeholder 4">
            <a:extLst>
              <a:ext uri="{FF2B5EF4-FFF2-40B4-BE49-F238E27FC236}">
                <a16:creationId xmlns:a16="http://schemas.microsoft.com/office/drawing/2014/main" id="{28A4156D-4865-3DCA-2848-A32F32864E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7BFA7-1694-F409-55F9-CD065507F9AE}"/>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3421222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7B19D-5F2B-C8B5-F865-A338F40A4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54C624-1D59-64AE-3423-9F655C9A0B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6893FC-A47E-A009-08D3-CEC429BEC32B}"/>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5" name="Footer Placeholder 4">
            <a:extLst>
              <a:ext uri="{FF2B5EF4-FFF2-40B4-BE49-F238E27FC236}">
                <a16:creationId xmlns:a16="http://schemas.microsoft.com/office/drawing/2014/main" id="{E41D92C6-CD9F-00E9-AEE8-69DD2423D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B96BF2-C09E-E1AB-AC2C-7325FB61C2F6}"/>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3347281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C5708-59C3-24F8-18B0-4D0FE6A13D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B52207-EC9F-34DE-6550-3AC0EF91C8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A21936-905D-F014-FDD4-496CE0F8B4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21C34B-D81E-0FA3-F5FD-B29502022779}"/>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6" name="Footer Placeholder 5">
            <a:extLst>
              <a:ext uri="{FF2B5EF4-FFF2-40B4-BE49-F238E27FC236}">
                <a16:creationId xmlns:a16="http://schemas.microsoft.com/office/drawing/2014/main" id="{2A104566-23A8-F1CF-E757-5A81564BB7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5A8D99-4A2A-157E-0B75-29C6E5241883}"/>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944220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01FD5-55C6-A1B8-8E79-03794E1EB1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194BC3-5287-0B27-509C-69C458EC32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17BAE6-EC09-535E-C646-78BBA6FAA5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FB259E-675A-7672-B542-17C057CAC5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EE0912-53E1-173E-2225-634ADC9237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D4B9F1-171B-9431-87CA-8F72F2EFDA40}"/>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8" name="Footer Placeholder 7">
            <a:extLst>
              <a:ext uri="{FF2B5EF4-FFF2-40B4-BE49-F238E27FC236}">
                <a16:creationId xmlns:a16="http://schemas.microsoft.com/office/drawing/2014/main" id="{99CF019A-E275-77AA-FC21-FAA3EAB52B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C0E916-9D48-E219-2CFC-E6A9DFA74668}"/>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2008981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90B1A-728F-AA99-B2E5-C656A96681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0C5C32-DC1F-958B-6372-E0A18728D8B0}"/>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4" name="Footer Placeholder 3">
            <a:extLst>
              <a:ext uri="{FF2B5EF4-FFF2-40B4-BE49-F238E27FC236}">
                <a16:creationId xmlns:a16="http://schemas.microsoft.com/office/drawing/2014/main" id="{ACFE0B92-997F-CA26-AFCD-3FE6B52C6A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0D14DD-6320-C711-0A07-B96A9FC24E39}"/>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2519474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8F5D9A-B05F-6220-E531-6AC0F7242424}"/>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3" name="Footer Placeholder 2">
            <a:extLst>
              <a:ext uri="{FF2B5EF4-FFF2-40B4-BE49-F238E27FC236}">
                <a16:creationId xmlns:a16="http://schemas.microsoft.com/office/drawing/2014/main" id="{304C6FAF-1CFA-5136-2F6A-DD3675A2ED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8873BD-E4F7-AC2D-09E1-DA1AFCBD11EE}"/>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2337675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F8AB-06F1-3A6E-D70A-BFEB6B667F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0D8B79-2E41-7320-65A9-57027272F1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BBF8C4-B558-02CA-D68B-3E39F60A09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D399B8-6701-8495-4D62-54524C201FA1}"/>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6" name="Footer Placeholder 5">
            <a:extLst>
              <a:ext uri="{FF2B5EF4-FFF2-40B4-BE49-F238E27FC236}">
                <a16:creationId xmlns:a16="http://schemas.microsoft.com/office/drawing/2014/main" id="{9FD9402F-4A0E-5496-261D-E2A5643D4B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77CD3A-15C2-A744-5130-F917A572D019}"/>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2676338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1CFCC-6A49-3965-68F6-8FBCDDACC9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949F9E-4076-940F-52BB-12CCCCE549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4F6A99-C1BD-EAD7-7D13-FDEAC5B611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C11937-8AF8-D58E-980E-E883C725A115}"/>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6" name="Footer Placeholder 5">
            <a:extLst>
              <a:ext uri="{FF2B5EF4-FFF2-40B4-BE49-F238E27FC236}">
                <a16:creationId xmlns:a16="http://schemas.microsoft.com/office/drawing/2014/main" id="{85F7119F-7399-52E1-A9FE-BE9A4C18DC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14D05E-A8F3-724C-4475-254EE21BBD4C}"/>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3334733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90DB-BF12-F400-BFDC-056B7344C8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14B0AC-90FA-185C-00D2-8769E0ABD8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4B6CAE-F1E3-429B-20F4-81DBB48E5D59}"/>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5" name="Footer Placeholder 4">
            <a:extLst>
              <a:ext uri="{FF2B5EF4-FFF2-40B4-BE49-F238E27FC236}">
                <a16:creationId xmlns:a16="http://schemas.microsoft.com/office/drawing/2014/main" id="{F70F18CA-9D8F-5953-1E0D-CD8E5B22E3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BB31AA-878A-B487-FC85-2BEB082FABEE}"/>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1005144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C54D58-2851-EF31-DBC4-B8CED5AF56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499EA3-FB70-2D2F-CDA5-292D7F0010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8CFC0-C1CC-7DE4-1545-FB62D89F1F5E}"/>
              </a:ext>
            </a:extLst>
          </p:cNvPr>
          <p:cNvSpPr>
            <a:spLocks noGrp="1"/>
          </p:cNvSpPr>
          <p:nvPr>
            <p:ph type="dt" sz="half" idx="10"/>
          </p:nvPr>
        </p:nvSpPr>
        <p:spPr/>
        <p:txBody>
          <a:bodyPr/>
          <a:lstStyle/>
          <a:p>
            <a:fld id="{E7192E6B-1E6F-46F9-94EF-13F63378D635}" type="datetimeFigureOut">
              <a:rPr lang="en-US" smtClean="0"/>
              <a:t>8/2/2026</a:t>
            </a:fld>
            <a:endParaRPr lang="en-US"/>
          </a:p>
        </p:txBody>
      </p:sp>
      <p:sp>
        <p:nvSpPr>
          <p:cNvPr id="5" name="Footer Placeholder 4">
            <a:extLst>
              <a:ext uri="{FF2B5EF4-FFF2-40B4-BE49-F238E27FC236}">
                <a16:creationId xmlns:a16="http://schemas.microsoft.com/office/drawing/2014/main" id="{E8E66CF7-E037-33C0-A93D-D31357B434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0B8797-4F09-251D-316B-1CEB458F6D5A}"/>
              </a:ext>
            </a:extLst>
          </p:cNvPr>
          <p:cNvSpPr>
            <a:spLocks noGrp="1"/>
          </p:cNvSpPr>
          <p:nvPr>
            <p:ph type="sldNum" sz="quarter" idx="12"/>
          </p:nvPr>
        </p:nvSpPr>
        <p:spPr/>
        <p:txBody>
          <a:bodyPr/>
          <a:lstStyle/>
          <a:p>
            <a:fld id="{6FBE39B3-25F1-42C9-998E-89520F5EB93D}" type="slidenum">
              <a:rPr lang="en-US" smtClean="0"/>
              <a:t>‹#›</a:t>
            </a:fld>
            <a:endParaRPr lang="en-US"/>
          </a:p>
        </p:txBody>
      </p:sp>
    </p:spTree>
    <p:extLst>
      <p:ext uri="{BB962C8B-B14F-4D97-AF65-F5344CB8AC3E}">
        <p14:creationId xmlns:p14="http://schemas.microsoft.com/office/powerpoint/2010/main" val="1485269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A00ABA-CE32-B754-8E75-770BA972C3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0D78F8-1E92-B385-1A90-DD678D31D3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4C5A87-E46E-3BC1-1C8E-71FAEC77A4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192E6B-1E6F-46F9-94EF-13F63378D635}" type="datetimeFigureOut">
              <a:rPr lang="en-US" smtClean="0"/>
              <a:t>8/2/2026</a:t>
            </a:fld>
            <a:endParaRPr lang="en-US"/>
          </a:p>
        </p:txBody>
      </p:sp>
      <p:sp>
        <p:nvSpPr>
          <p:cNvPr id="5" name="Footer Placeholder 4">
            <a:extLst>
              <a:ext uri="{FF2B5EF4-FFF2-40B4-BE49-F238E27FC236}">
                <a16:creationId xmlns:a16="http://schemas.microsoft.com/office/drawing/2014/main" id="{D1F448F5-F34D-00FF-1A9D-6557335D4D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D1E9E39-5315-6AC2-C6C1-27F545D52A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BE39B3-25F1-42C9-998E-89520F5EB93D}" type="slidenum">
              <a:rPr lang="en-US" smtClean="0"/>
              <a:t>‹#›</a:t>
            </a:fld>
            <a:endParaRPr lang="en-US"/>
          </a:p>
        </p:txBody>
      </p:sp>
    </p:spTree>
    <p:extLst>
      <p:ext uri="{BB962C8B-B14F-4D97-AF65-F5344CB8AC3E}">
        <p14:creationId xmlns:p14="http://schemas.microsoft.com/office/powerpoint/2010/main" val="3035186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E287-32FC-2449-4247-6ACC62C053FF}"/>
              </a:ext>
            </a:extLst>
          </p:cNvPr>
          <p:cNvSpPr>
            <a:spLocks noGrp="1"/>
          </p:cNvSpPr>
          <p:nvPr>
            <p:ph type="title"/>
          </p:nvPr>
        </p:nvSpPr>
        <p:spPr/>
        <p:txBody>
          <a:bodyPr/>
          <a:lstStyle/>
          <a:p>
            <a:pPr algn="ctr"/>
            <a:r>
              <a:rPr lang="en-US" dirty="0"/>
              <a:t>Workday Finance Application</a:t>
            </a:r>
          </a:p>
        </p:txBody>
      </p:sp>
      <p:pic>
        <p:nvPicPr>
          <p:cNvPr id="5" name="Content Placeholder 4">
            <a:extLst>
              <a:ext uri="{FF2B5EF4-FFF2-40B4-BE49-F238E27FC236}">
                <a16:creationId xmlns:a16="http://schemas.microsoft.com/office/drawing/2014/main" id="{2E5B4843-2951-E1F8-19D7-FE40B9E199CB}"/>
              </a:ext>
            </a:extLst>
          </p:cNvPr>
          <p:cNvPicPr>
            <a:picLocks noGrp="1" noChangeAspect="1"/>
          </p:cNvPicPr>
          <p:nvPr>
            <p:ph idx="1"/>
          </p:nvPr>
        </p:nvPicPr>
        <p:blipFill>
          <a:blip r:embed="rId2"/>
          <a:stretch>
            <a:fillRect/>
          </a:stretch>
        </p:blipFill>
        <p:spPr>
          <a:xfrm>
            <a:off x="234778" y="2656702"/>
            <a:ext cx="11565925" cy="4077729"/>
          </a:xfrm>
          <a:prstGeom prst="rect">
            <a:avLst/>
          </a:prstGeom>
        </p:spPr>
      </p:pic>
    </p:spTree>
    <p:extLst>
      <p:ext uri="{BB962C8B-B14F-4D97-AF65-F5344CB8AC3E}">
        <p14:creationId xmlns:p14="http://schemas.microsoft.com/office/powerpoint/2010/main" val="794663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D6F5C-FB6B-CC3E-CCCC-0D18B7C9A7F0}"/>
              </a:ext>
            </a:extLst>
          </p:cNvPr>
          <p:cNvSpPr>
            <a:spLocks noGrp="1"/>
          </p:cNvSpPr>
          <p:nvPr>
            <p:ph type="title"/>
          </p:nvPr>
        </p:nvSpPr>
        <p:spPr/>
        <p:txBody>
          <a:bodyPr/>
          <a:lstStyle/>
          <a:p>
            <a:pPr algn="ctr"/>
            <a:r>
              <a:rPr lang="en-US" dirty="0"/>
              <a:t>Workday Finance Application</a:t>
            </a:r>
          </a:p>
        </p:txBody>
      </p:sp>
      <p:pic>
        <p:nvPicPr>
          <p:cNvPr id="6" name="Content Placeholder 5">
            <a:extLst>
              <a:ext uri="{FF2B5EF4-FFF2-40B4-BE49-F238E27FC236}">
                <a16:creationId xmlns:a16="http://schemas.microsoft.com/office/drawing/2014/main" id="{6E752060-CDCA-4831-ED22-10F0392B5E2C}"/>
              </a:ext>
            </a:extLst>
          </p:cNvPr>
          <p:cNvPicPr>
            <a:picLocks noGrp="1" noChangeAspect="1"/>
          </p:cNvPicPr>
          <p:nvPr>
            <p:ph sz="half" idx="1"/>
          </p:nvPr>
        </p:nvPicPr>
        <p:blipFill>
          <a:blip r:embed="rId2"/>
          <a:stretch>
            <a:fillRect/>
          </a:stretch>
        </p:blipFill>
        <p:spPr>
          <a:xfrm>
            <a:off x="838199" y="3756454"/>
            <a:ext cx="10900720" cy="2940907"/>
          </a:xfrm>
          <a:prstGeom prst="rect">
            <a:avLst/>
          </a:prstGeom>
        </p:spPr>
      </p:pic>
      <p:sp>
        <p:nvSpPr>
          <p:cNvPr id="4" name="Content Placeholder 3">
            <a:extLst>
              <a:ext uri="{FF2B5EF4-FFF2-40B4-BE49-F238E27FC236}">
                <a16:creationId xmlns:a16="http://schemas.microsoft.com/office/drawing/2014/main" id="{B534FE24-BCF6-A50F-1B10-172AEA72602C}"/>
              </a:ext>
            </a:extLst>
          </p:cNvPr>
          <p:cNvSpPr>
            <a:spLocks noGrp="1"/>
          </p:cNvSpPr>
          <p:nvPr>
            <p:ph sz="half" idx="2"/>
          </p:nvPr>
        </p:nvSpPr>
        <p:spPr>
          <a:xfrm>
            <a:off x="630195" y="1569308"/>
            <a:ext cx="11108724" cy="2075935"/>
          </a:xfrm>
        </p:spPr>
        <p:txBody>
          <a:bodyPr>
            <a:normAutofit fontScale="92500" lnSpcReduction="10000"/>
          </a:bodyPr>
          <a:lstStyle/>
          <a:p>
            <a:pPr marL="0" indent="0">
              <a:buNone/>
            </a:pPr>
            <a:r>
              <a:rPr lang="en-US" dirty="0"/>
              <a:t> The objective of this project is to leverage AI-driven integration across ERP systems such as Workday to streamline financial operations where HR, payroll, cost centers, and financial reporting intersect. By combining payroll calculation audits and grant cost allocations, and monitoring grant cost allocations to ensure accurate records in ERP systems, this project supports gap analysis and financial risk management.</a:t>
            </a:r>
          </a:p>
        </p:txBody>
      </p:sp>
    </p:spTree>
    <p:extLst>
      <p:ext uri="{BB962C8B-B14F-4D97-AF65-F5344CB8AC3E}">
        <p14:creationId xmlns:p14="http://schemas.microsoft.com/office/powerpoint/2010/main" val="3852490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33AAAD-BBFA-92EE-97B9-5505F1991901}"/>
              </a:ext>
            </a:extLst>
          </p:cNvPr>
          <p:cNvSpPr>
            <a:spLocks noGrp="1"/>
          </p:cNvSpPr>
          <p:nvPr>
            <p:ph type="title"/>
          </p:nvPr>
        </p:nvSpPr>
        <p:spPr>
          <a:xfrm>
            <a:off x="9105297" y="0"/>
            <a:ext cx="3086702" cy="6734432"/>
          </a:xfrm>
        </p:spPr>
        <p:txBody>
          <a:bodyPr vert="horz" lIns="91440" tIns="45720" rIns="91440" bIns="45720" rtlCol="0" anchor="ctr">
            <a:normAutofit/>
          </a:bodyPr>
          <a:lstStyle/>
          <a:p>
            <a:pPr marL="284163" indent="-111125">
              <a:buFont typeface="Times New Roman" panose="02020603050405020304" pitchFamily="18" charset="0"/>
              <a:buChar char="•"/>
            </a:pPr>
            <a:r>
              <a:rPr lang="en-US" sz="2000" kern="1200" dirty="0">
                <a:solidFill>
                  <a:schemeClr val="tx1"/>
                </a:solidFill>
                <a:latin typeface="Times New Roman" panose="02020603050405020304" pitchFamily="18" charset="0"/>
                <a:cs typeface="Times New Roman" panose="02020603050405020304" pitchFamily="18" charset="0"/>
              </a:rPr>
              <a:t>  Worker Name </a:t>
            </a:r>
            <a:br>
              <a:rPr lang="en-US" sz="2000" kern="1200" dirty="0">
                <a:solidFill>
                  <a:schemeClr val="tx1"/>
                </a:solidFill>
                <a:latin typeface="Times New Roman" panose="02020603050405020304" pitchFamily="18" charset="0"/>
                <a:cs typeface="Times New Roman" panose="02020603050405020304" pitchFamily="18" charset="0"/>
              </a:rPr>
            </a:br>
            <a:br>
              <a:rPr lang="en-US" sz="2000" kern="1200" dirty="0">
                <a:solidFill>
                  <a:schemeClr val="tx1"/>
                </a:solidFill>
                <a:latin typeface="Times New Roman" panose="02020603050405020304" pitchFamily="18" charset="0"/>
                <a:cs typeface="Times New Roman" panose="02020603050405020304" pitchFamily="18" charset="0"/>
              </a:rPr>
            </a:br>
            <a:r>
              <a:rPr lang="en-US" sz="2000" kern="1200" dirty="0">
                <a:solidFill>
                  <a:schemeClr val="tx1"/>
                </a:solidFill>
                <a:latin typeface="Times New Roman" panose="02020603050405020304" pitchFamily="18" charset="0"/>
                <a:cs typeface="Times New Roman" panose="02020603050405020304" pitchFamily="18" charset="0"/>
              </a:rPr>
              <a:t>  Position</a:t>
            </a:r>
            <a:br>
              <a:rPr lang="en-US" sz="2000" kern="1200" dirty="0">
                <a:solidFill>
                  <a:schemeClr val="tx1"/>
                </a:solidFill>
                <a:latin typeface="Times New Roman" panose="02020603050405020304" pitchFamily="18" charset="0"/>
                <a:cs typeface="Times New Roman" panose="02020603050405020304" pitchFamily="18" charset="0"/>
              </a:rPr>
            </a:br>
            <a:br>
              <a:rPr lang="en-US" sz="2000" kern="1200" dirty="0">
                <a:solidFill>
                  <a:schemeClr val="tx1"/>
                </a:solidFill>
                <a:latin typeface="Times New Roman" panose="02020603050405020304" pitchFamily="18" charset="0"/>
                <a:cs typeface="Times New Roman" panose="02020603050405020304" pitchFamily="18" charset="0"/>
              </a:rPr>
            </a:br>
            <a:r>
              <a:rPr lang="en-US" sz="2000" kern="1200" dirty="0">
                <a:solidFill>
                  <a:schemeClr val="tx1"/>
                </a:solidFill>
                <a:latin typeface="Times New Roman" panose="02020603050405020304" pitchFamily="18" charset="0"/>
                <a:cs typeface="Times New Roman" panose="02020603050405020304" pitchFamily="18" charset="0"/>
              </a:rPr>
              <a:t>  Benefits</a:t>
            </a:r>
            <a:br>
              <a:rPr lang="en-US" sz="2000" kern="1200" dirty="0">
                <a:solidFill>
                  <a:schemeClr val="tx1"/>
                </a:solidFill>
                <a:latin typeface="Times New Roman" panose="02020603050405020304" pitchFamily="18" charset="0"/>
                <a:cs typeface="Times New Roman" panose="02020603050405020304" pitchFamily="18" charset="0"/>
              </a:rPr>
            </a:br>
            <a:br>
              <a:rPr lang="en-US" sz="2000" kern="1200" dirty="0">
                <a:solidFill>
                  <a:schemeClr val="tx1"/>
                </a:solidFill>
                <a:latin typeface="Times New Roman" panose="02020603050405020304" pitchFamily="18" charset="0"/>
                <a:cs typeface="Times New Roman" panose="02020603050405020304" pitchFamily="18" charset="0"/>
              </a:rPr>
            </a:br>
            <a:r>
              <a:rPr lang="en-US" sz="2000" kern="1200" dirty="0">
                <a:solidFill>
                  <a:schemeClr val="tx1"/>
                </a:solidFill>
                <a:latin typeface="Times New Roman" panose="02020603050405020304" pitchFamily="18" charset="0"/>
                <a:cs typeface="Times New Roman" panose="02020603050405020304" pitchFamily="18" charset="0"/>
              </a:rPr>
              <a:t>  Pay</a:t>
            </a:r>
            <a:br>
              <a:rPr lang="en-US" sz="2000" kern="1200" dirty="0">
                <a:solidFill>
                  <a:schemeClr val="tx1"/>
                </a:solidFill>
                <a:latin typeface="Times New Roman" panose="02020603050405020304" pitchFamily="18" charset="0"/>
                <a:cs typeface="Times New Roman" panose="02020603050405020304" pitchFamily="18" charset="0"/>
              </a:rPr>
            </a:br>
            <a:br>
              <a:rPr lang="en-US" sz="2000" kern="1200" dirty="0">
                <a:solidFill>
                  <a:schemeClr val="tx1"/>
                </a:solidFill>
                <a:latin typeface="Times New Roman" panose="02020603050405020304" pitchFamily="18" charset="0"/>
                <a:cs typeface="Times New Roman" panose="02020603050405020304" pitchFamily="18" charset="0"/>
              </a:rPr>
            </a:br>
            <a:r>
              <a:rPr lang="en-US" sz="2000" kern="1200" dirty="0">
                <a:solidFill>
                  <a:schemeClr val="tx1"/>
                </a:solidFill>
                <a:latin typeface="Times New Roman" panose="02020603050405020304" pitchFamily="18" charset="0"/>
                <a:cs typeface="Times New Roman" panose="02020603050405020304" pitchFamily="18" charset="0"/>
              </a:rPr>
              <a:t>  Compensation</a:t>
            </a:r>
            <a:br>
              <a:rPr lang="en-US" sz="2000" kern="1200" dirty="0">
                <a:solidFill>
                  <a:schemeClr val="tx1"/>
                </a:solidFill>
                <a:latin typeface="Times New Roman" panose="02020603050405020304" pitchFamily="18" charset="0"/>
                <a:cs typeface="Times New Roman" panose="02020603050405020304" pitchFamily="18" charset="0"/>
              </a:rPr>
            </a:br>
            <a:br>
              <a:rPr lang="en-US" sz="2000" kern="1200" dirty="0">
                <a:solidFill>
                  <a:schemeClr val="tx1"/>
                </a:solidFill>
                <a:latin typeface="Times New Roman" panose="02020603050405020304" pitchFamily="18" charset="0"/>
                <a:cs typeface="Times New Roman" panose="02020603050405020304" pitchFamily="18" charset="0"/>
              </a:rPr>
            </a:br>
            <a:r>
              <a:rPr lang="en-US" sz="2000" kern="1200" dirty="0">
                <a:solidFill>
                  <a:schemeClr val="tx1"/>
                </a:solidFill>
                <a:latin typeface="Times New Roman" panose="02020603050405020304" pitchFamily="18" charset="0"/>
                <a:cs typeface="Times New Roman" panose="02020603050405020304" pitchFamily="18" charset="0"/>
              </a:rPr>
              <a:t>   Most Recent </a:t>
            </a:r>
            <a:r>
              <a:rPr lang="en-US" sz="2000" kern="1200" dirty="0" err="1">
                <a:solidFill>
                  <a:schemeClr val="tx1"/>
                </a:solidFill>
                <a:latin typeface="Times New Roman" panose="02020603050405020304" pitchFamily="18" charset="0"/>
                <a:cs typeface="Times New Roman" panose="02020603050405020304" pitchFamily="18" charset="0"/>
              </a:rPr>
              <a:t>Payslip</a:t>
            </a:r>
            <a:endParaRPr lang="en-US" sz="2000" kern="1200" dirty="0">
              <a:solidFill>
                <a:schemeClr val="tx1"/>
              </a:solidFill>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0710EE3-ADF7-59C8-6F85-95AD594B93D7}"/>
              </a:ext>
            </a:extLst>
          </p:cNvPr>
          <p:cNvPicPr>
            <a:picLocks noGrp="1" noChangeAspect="1"/>
          </p:cNvPicPr>
          <p:nvPr>
            <p:ph idx="1"/>
          </p:nvPr>
        </p:nvPicPr>
        <p:blipFill>
          <a:blip r:embed="rId2"/>
          <a:stretch>
            <a:fillRect/>
          </a:stretch>
        </p:blipFill>
        <p:spPr>
          <a:xfrm>
            <a:off x="0" y="1"/>
            <a:ext cx="9105297" cy="6857364"/>
          </a:xfrm>
          <a:prstGeom prst="rect">
            <a:avLst/>
          </a:prstGeom>
        </p:spPr>
      </p:pic>
      <p:sp>
        <p:nvSpPr>
          <p:cNvPr id="52" name="Rectangle 51">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0323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EE7F-F239-6942-7360-3FE18283AEAB}"/>
              </a:ext>
            </a:extLst>
          </p:cNvPr>
          <p:cNvSpPr>
            <a:spLocks noGrp="1"/>
          </p:cNvSpPr>
          <p:nvPr>
            <p:ph type="title"/>
          </p:nvPr>
        </p:nvSpPr>
        <p:spPr>
          <a:xfrm>
            <a:off x="8872151" y="0"/>
            <a:ext cx="3319849" cy="6858000"/>
          </a:xfrm>
        </p:spPr>
        <p:txBody>
          <a:bodyPr>
            <a:norm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 connects across  ERP systems to audit financial statements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Journal &amp; General Ledger</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Revenue &amp; AR Aging Report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Spend Analysis for Invoices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Expense Reports &amp;</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AP  Aging Report</a:t>
            </a:r>
            <a:br>
              <a:rPr lang="en-US" sz="20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a16="http://schemas.microsoft.com/office/drawing/2014/main" id="{360F893B-67F7-869C-9A3E-5CDC816F2668}"/>
              </a:ext>
            </a:extLst>
          </p:cNvPr>
          <p:cNvPicPr>
            <a:picLocks noGrp="1" noChangeAspect="1"/>
          </p:cNvPicPr>
          <p:nvPr>
            <p:ph idx="1"/>
          </p:nvPr>
        </p:nvPicPr>
        <p:blipFill>
          <a:blip r:embed="rId2"/>
          <a:stretch>
            <a:fillRect/>
          </a:stretch>
        </p:blipFill>
        <p:spPr>
          <a:xfrm>
            <a:off x="0" y="0"/>
            <a:ext cx="8970516" cy="6416758"/>
          </a:xfrm>
          <a:prstGeom prst="rect">
            <a:avLst/>
          </a:prstGeom>
        </p:spPr>
      </p:pic>
    </p:spTree>
    <p:extLst>
      <p:ext uri="{BB962C8B-B14F-4D97-AF65-F5344CB8AC3E}">
        <p14:creationId xmlns:p14="http://schemas.microsoft.com/office/powerpoint/2010/main" val="1213320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659A2-8A5D-3771-DD76-D4FEF5244155}"/>
              </a:ext>
            </a:extLst>
          </p:cNvPr>
          <p:cNvSpPr>
            <a:spLocks noGrp="1"/>
          </p:cNvSpPr>
          <p:nvPr>
            <p:ph type="title"/>
          </p:nvPr>
        </p:nvSpPr>
        <p:spPr>
          <a:xfrm>
            <a:off x="8991600" y="398585"/>
            <a:ext cx="3200400" cy="6330461"/>
          </a:xfrm>
        </p:spPr>
        <p:txBody>
          <a:bodyPr>
            <a:norm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Audit payroll calculation pipelines for compliance </a:t>
            </a:r>
          </a:p>
        </p:txBody>
      </p:sp>
      <p:pic>
        <p:nvPicPr>
          <p:cNvPr id="5" name="Content Placeholder 4">
            <a:extLst>
              <a:ext uri="{FF2B5EF4-FFF2-40B4-BE49-F238E27FC236}">
                <a16:creationId xmlns:a16="http://schemas.microsoft.com/office/drawing/2014/main" id="{9A4BEA78-997F-7CDE-A6BB-AF05ACF6837B}"/>
              </a:ext>
            </a:extLst>
          </p:cNvPr>
          <p:cNvPicPr>
            <a:picLocks noGrp="1" noChangeAspect="1"/>
          </p:cNvPicPr>
          <p:nvPr>
            <p:ph idx="1"/>
          </p:nvPr>
        </p:nvPicPr>
        <p:blipFill>
          <a:blip r:embed="rId2"/>
          <a:stretch>
            <a:fillRect/>
          </a:stretch>
        </p:blipFill>
        <p:spPr>
          <a:xfrm>
            <a:off x="135924" y="0"/>
            <a:ext cx="8949461" cy="6858000"/>
          </a:xfrm>
          <a:prstGeom prst="rect">
            <a:avLst/>
          </a:prstGeom>
        </p:spPr>
      </p:pic>
    </p:spTree>
    <p:extLst>
      <p:ext uri="{BB962C8B-B14F-4D97-AF65-F5344CB8AC3E}">
        <p14:creationId xmlns:p14="http://schemas.microsoft.com/office/powerpoint/2010/main" val="3069402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58EC-7E1C-213B-4428-DF607BD51E8B}"/>
              </a:ext>
            </a:extLst>
          </p:cNvPr>
          <p:cNvSpPr>
            <a:spLocks noGrp="1"/>
          </p:cNvSpPr>
          <p:nvPr>
            <p:ph type="title"/>
          </p:nvPr>
        </p:nvSpPr>
        <p:spPr>
          <a:xfrm>
            <a:off x="8340810" y="407773"/>
            <a:ext cx="3699690" cy="5807676"/>
          </a:xfrm>
        </p:spPr>
        <p:txBody>
          <a:bodyPr>
            <a:norm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Review all workers costing allocations.</a:t>
            </a:r>
          </a:p>
        </p:txBody>
      </p:sp>
      <p:pic>
        <p:nvPicPr>
          <p:cNvPr id="8" name="Content Placeholder 7">
            <a:extLst>
              <a:ext uri="{FF2B5EF4-FFF2-40B4-BE49-F238E27FC236}">
                <a16:creationId xmlns:a16="http://schemas.microsoft.com/office/drawing/2014/main" id="{3E21A69F-707B-4AF8-E7C9-603B2A8AC540}"/>
              </a:ext>
            </a:extLst>
          </p:cNvPr>
          <p:cNvPicPr>
            <a:picLocks noGrp="1" noChangeAspect="1"/>
          </p:cNvPicPr>
          <p:nvPr>
            <p:ph sz="quarter" idx="4"/>
          </p:nvPr>
        </p:nvPicPr>
        <p:blipFill>
          <a:blip r:embed="rId2"/>
          <a:stretch>
            <a:fillRect/>
          </a:stretch>
        </p:blipFill>
        <p:spPr>
          <a:xfrm>
            <a:off x="151500" y="2471351"/>
            <a:ext cx="7880391" cy="4188941"/>
          </a:xfrm>
          <a:prstGeom prst="rect">
            <a:avLst/>
          </a:prstGeom>
        </p:spPr>
      </p:pic>
      <p:pic>
        <p:nvPicPr>
          <p:cNvPr id="9" name="Content Placeholder 5">
            <a:extLst>
              <a:ext uri="{FF2B5EF4-FFF2-40B4-BE49-F238E27FC236}">
                <a16:creationId xmlns:a16="http://schemas.microsoft.com/office/drawing/2014/main" id="{E0AD8F57-AD6A-C6C6-3F8E-8654FA9A87F2}"/>
              </a:ext>
            </a:extLst>
          </p:cNvPr>
          <p:cNvPicPr>
            <a:picLocks noGrp="1" noChangeAspect="1"/>
          </p:cNvPicPr>
          <p:nvPr>
            <p:ph sz="half" idx="2"/>
          </p:nvPr>
        </p:nvPicPr>
        <p:blipFill>
          <a:blip r:embed="rId3"/>
          <a:stretch>
            <a:fillRect/>
          </a:stretch>
        </p:blipFill>
        <p:spPr>
          <a:xfrm>
            <a:off x="151500" y="0"/>
            <a:ext cx="7880391" cy="2471351"/>
          </a:xfrm>
          <a:prstGeom prst="rect">
            <a:avLst/>
          </a:prstGeom>
        </p:spPr>
      </p:pic>
    </p:spTree>
    <p:extLst>
      <p:ext uri="{BB962C8B-B14F-4D97-AF65-F5344CB8AC3E}">
        <p14:creationId xmlns:p14="http://schemas.microsoft.com/office/powerpoint/2010/main" val="3072692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TotalTime>
  <Words>152</Words>
  <Application>Microsoft Office PowerPoint</Application>
  <PresentationFormat>Widescreen</PresentationFormat>
  <Paragraphs>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Times New Roman</vt:lpstr>
      <vt:lpstr>Office Theme</vt:lpstr>
      <vt:lpstr>Workday Finance Application</vt:lpstr>
      <vt:lpstr>Workday Finance Application</vt:lpstr>
      <vt:lpstr>  Worker Name     Position    Benefits    Pay    Compensation     Most Recent Payslip</vt:lpstr>
      <vt:lpstr>AI connects across  ERP systems to audit financial statements    Journal &amp; General Ledger  Revenue &amp; AR Aging Report  Spend Analysis for Invoices  Expense Reports &amp; AP  Aging Report    </vt:lpstr>
      <vt:lpstr>Audit payroll calculation pipelines for compliance </vt:lpstr>
      <vt:lpstr>Review all workers costing allocations.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 H</dc:creator>
  <cp:lastModifiedBy>F H</cp:lastModifiedBy>
  <cp:revision>1</cp:revision>
  <dcterms:created xsi:type="dcterms:W3CDTF">2026-08-03T01:03:38Z</dcterms:created>
  <dcterms:modified xsi:type="dcterms:W3CDTF">2026-08-03T05:23:52Z</dcterms:modified>
</cp:coreProperties>
</file>